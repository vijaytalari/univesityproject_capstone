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9" r:id="rId3"/>
    <p:sldId id="257" r:id="rId4"/>
    <p:sldId id="274" r:id="rId5"/>
    <p:sldId id="275" r:id="rId6"/>
    <p:sldId id="273" r:id="rId7"/>
    <p:sldId id="272" r:id="rId8"/>
    <p:sldId id="271" r:id="rId9"/>
    <p:sldId id="26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 Talari" userId="420c5d303bc84229" providerId="LiveId" clId="{EA8B9457-F9A5-44CA-8A34-57A009272156}"/>
    <pc:docChg chg="modSld">
      <pc:chgData name="Vijay Talari" userId="420c5d303bc84229" providerId="LiveId" clId="{EA8B9457-F9A5-44CA-8A34-57A009272156}" dt="2026-04-20T10:26:22.644" v="1" actId="20577"/>
      <pc:docMkLst>
        <pc:docMk/>
      </pc:docMkLst>
      <pc:sldChg chg="modSp mod">
        <pc:chgData name="Vijay Talari" userId="420c5d303bc84229" providerId="LiveId" clId="{EA8B9457-F9A5-44CA-8A34-57A009272156}" dt="2026-04-20T10:26:22.644" v="1" actId="20577"/>
        <pc:sldMkLst>
          <pc:docMk/>
          <pc:sldMk cId="0" sldId="256"/>
        </pc:sldMkLst>
        <pc:spChg chg="mod">
          <ac:chgData name="Vijay Talari" userId="420c5d303bc84229" providerId="LiveId" clId="{EA8B9457-F9A5-44CA-8A34-57A009272156}" dt="2026-04-20T10:26:22.644" v="1" actId="20577"/>
          <ac:spMkLst>
            <pc:docMk/>
            <pc:sldMk cId="0" sldId="256"/>
            <ac:spMk id="9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appidihemanth/Capstone-Project.gi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solidFill>
                  <a:schemeClr val="tx1"/>
                </a:solidFill>
                <a:latin typeface="Cambria" panose="02040503050406030204" pitchFamily="18" charset="0"/>
                <a:ea typeface="Cambria" panose="02040503050406030204" pitchFamily="18" charset="0"/>
              </a:rPr>
              <a:t>Smart Helpdesk Ticketing Solution for IT Services </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a:t>
            </a:r>
            <a:r>
              <a:rPr lang="en-IN" sz="20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Ashishika</a:t>
            </a: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Singh</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568928197"/>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20221CIT0089</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err="1"/>
                        <a:t>Sappidi</a:t>
                      </a:r>
                      <a:r>
                        <a:rPr lang="en-IN" sz="1800" u="none" strike="noStrike" cap="none" dirty="0"/>
                        <a:t> Hemanth</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20221CIT0090</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Vasikeri Praneeth Sai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20221CIT0063</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Talari Vijay Kumar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a:solidFill>
                  <a:srgbClr val="17365D"/>
                </a:solidFill>
                <a:latin typeface="Cambria" panose="02040503050406030204" pitchFamily="18" charset="0"/>
                <a:ea typeface="Cambria" panose="02040503050406030204" pitchFamily="18" charset="0"/>
                <a:cs typeface="Verdana"/>
                <a:sym typeface="Verdana"/>
              </a:rPr>
              <a:t>University</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a:t>
            </a:r>
            <a:r>
              <a:rPr lang="en-GB" sz="1800" b="1" dirty="0">
                <a:solidFill>
                  <a:srgbClr val="17365D"/>
                </a:solidFill>
                <a:latin typeface="Cambria" panose="02040503050406030204" pitchFamily="18" charset="0"/>
                <a:ea typeface="Cambria" panose="02040503050406030204" pitchFamily="18" charset="0"/>
                <a:cs typeface="Verdana"/>
                <a:sym typeface="Verdana"/>
              </a:rPr>
              <a:t>4</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B.TECH</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Anandaraj S.P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t>Dr. </a:t>
            </a:r>
            <a:r>
              <a:rPr lang="en-IN" sz="1800" b="1" dirty="0" err="1"/>
              <a:t>Sharmasth</a:t>
            </a:r>
            <a:r>
              <a:rPr lang="en-IN" sz="1800" b="1" dirty="0"/>
              <a:t> Vali</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190</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50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cs typeface="Calibri" panose="020F0502020204030204" pitchFamily="34" charset="0"/>
              </a:rPr>
              <a:t>Ministry of Power</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(Hardware / Software / Both) </a:t>
            </a:r>
            <a:r>
              <a:rPr lang="en-US"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p>
          <a:p>
            <a:pPr marL="342900" lvl="0" indent="-190500" algn="just">
              <a:lnSpc>
                <a:spcPct val="170000"/>
              </a:lnSpc>
              <a:spcBef>
                <a:spcPts val="0"/>
              </a:spcBef>
              <a:buNone/>
            </a:pPr>
            <a:r>
              <a:rPr lang="en-US" sz="1900" dirty="0">
                <a:latin typeface="Cambria" panose="02040503050406030204" pitchFamily="18" charset="0"/>
                <a:ea typeface="Cambria" panose="02040503050406030204" pitchFamily="18" charset="0"/>
              </a:rPr>
              <a:t>    </a:t>
            </a:r>
            <a:r>
              <a:rPr lang="en-US" sz="2100" dirty="0">
                <a:latin typeface="Cambria" panose="02040503050406030204" pitchFamily="18" charset="0"/>
                <a:ea typeface="Cambria" panose="02040503050406030204" pitchFamily="18" charset="0"/>
              </a:rPr>
              <a:t>Large organizations like POWERGRID receive a large number of IT service requests daily, which are currently handled through multiple independent platforms such as GLPI, SAP Solution Manager (Solman), and email. This fragmented approach requires employees to navigate different systems to raise tickets, resulting in confusion, manual ticket classification, delayed routing, and increased workload for IT support teams. Additionally, the lack of centralized visibility and self-service mechanisms leads to slower resolution of common issues and reduced user satisfaction. Hence, there is a need for a centralized, AI-based helpdesk system that can consolidate tickets from multiple sources, automatically classify and route them, and efficiently resolve common IT issues.</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25000" lnSpcReduction="20000"/>
          </a:bodyPr>
          <a:lstStyle/>
          <a:p>
            <a:pPr marL="60960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Objectives</a:t>
            </a:r>
          </a:p>
          <a:p>
            <a:pPr marL="60960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Background and Related work for title Selection</a:t>
            </a:r>
          </a:p>
          <a:p>
            <a:pPr marL="609600" lvl="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Analysis of Problem Statement</a:t>
            </a:r>
          </a:p>
          <a:p>
            <a:pPr marL="609600" lvl="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Innovation or Novel Contributions</a:t>
            </a:r>
          </a:p>
          <a:p>
            <a:pPr marL="609600" indent="-457200" algn="just">
              <a:lnSpc>
                <a:spcPct val="200000"/>
              </a:lnSpc>
              <a:spcBef>
                <a:spcPts val="0"/>
              </a:spcBef>
              <a:buFont typeface="Wingdings" panose="05000000000000000000" pitchFamily="2" charset="2"/>
              <a:buChar char="Ø"/>
            </a:pPr>
            <a:r>
              <a:rPr lang="en-US" sz="8000" dirty="0" err="1">
                <a:latin typeface="Cambria" panose="02040503050406030204" pitchFamily="18" charset="0"/>
                <a:ea typeface="Cambria" panose="02040503050406030204" pitchFamily="18" charset="0"/>
              </a:rPr>
              <a:t>Git</a:t>
            </a:r>
            <a:r>
              <a:rPr lang="en-US" sz="8000" dirty="0">
                <a:latin typeface="Cambria" panose="02040503050406030204" pitchFamily="18" charset="0"/>
                <a:ea typeface="Cambria" panose="02040503050406030204" pitchFamily="18" charset="0"/>
              </a:rPr>
              <a:t>-hub Link</a:t>
            </a:r>
          </a:p>
          <a:p>
            <a:pPr marL="609600" lvl="0" indent="-457200" algn="just" rtl="0">
              <a:lnSpc>
                <a:spcPct val="200000"/>
              </a:lnSpc>
              <a:spcBef>
                <a:spcPts val="0"/>
              </a:spcBef>
              <a:spcAft>
                <a:spcPts val="0"/>
              </a:spcAft>
              <a:buClr>
                <a:schemeClr val="dk1"/>
              </a:buClr>
              <a:buSzPts val="2400"/>
              <a:buFont typeface="Wingdings" panose="05000000000000000000" pitchFamily="2" charset="2"/>
              <a:buChar char="Ø"/>
            </a:pPr>
            <a:r>
              <a:rPr lang="en-US" sz="8000" dirty="0">
                <a:latin typeface="Cambria" panose="02040503050406030204" pitchFamily="18" charset="0"/>
                <a:ea typeface="Cambria" panose="02040503050406030204" pitchFamily="18" charset="0"/>
              </a:rPr>
              <a:t>Timeline of the Project</a:t>
            </a:r>
          </a:p>
          <a:p>
            <a:pPr marL="609600" lvl="0" indent="-457200" algn="just" rtl="0">
              <a:lnSpc>
                <a:spcPct val="200000"/>
              </a:lnSpc>
              <a:spcBef>
                <a:spcPts val="0"/>
              </a:spcBef>
              <a:spcAft>
                <a:spcPts val="0"/>
              </a:spcAft>
              <a:buClr>
                <a:schemeClr val="dk1"/>
              </a:buClr>
              <a:buSzPts val="2400"/>
              <a:buFont typeface="Wingdings" panose="05000000000000000000" pitchFamily="2" charset="2"/>
              <a:buChar char="Ø"/>
            </a:pPr>
            <a:r>
              <a:rPr lang="en-US" sz="8000"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4" name="Text Placeholder 3">
            <a:extLst>
              <a:ext uri="{FF2B5EF4-FFF2-40B4-BE49-F238E27FC236}">
                <a16:creationId xmlns:a16="http://schemas.microsoft.com/office/drawing/2014/main" id="{CDD437B4-6011-1A3A-3D7F-2B81F9B51B05}"/>
              </a:ext>
            </a:extLst>
          </p:cNvPr>
          <p:cNvSpPr>
            <a:spLocks noGrp="1" noChangeArrowheads="1"/>
          </p:cNvSpPr>
          <p:nvPr>
            <p:ph type="body" idx="1"/>
          </p:nvPr>
        </p:nvSpPr>
        <p:spPr bwMode="auto">
          <a:xfrm>
            <a:off x="517645" y="1351508"/>
            <a:ext cx="1115671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design and develop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centralized AI-based helpdesk system</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managing IT service requests.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enable employees 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raise tickets through multiple channels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such as chatbot, email, and existing ticketing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consolidate all tickets into a single platform</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better visibility and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implement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NLP-based automated ticket classification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based on user queries.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provide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intelligent routing of tickets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to the appropriate IT support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enable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AI chatbot-based self-service resolution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common IT issues.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reduce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manual effort and response time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 IT service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improve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overall user satisfaction and IT service efficiency</a:t>
            </a:r>
            <a:r>
              <a:rPr kumimoji="0" lang="en-US" altLang="en-US"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2553-FF0B-6DE5-906D-812FF1F0406C}"/>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Background and Related work</a:t>
            </a:r>
          </a:p>
        </p:txBody>
      </p:sp>
      <p:sp>
        <p:nvSpPr>
          <p:cNvPr id="3" name="Text Placeholder 2">
            <a:extLst>
              <a:ext uri="{FF2B5EF4-FFF2-40B4-BE49-F238E27FC236}">
                <a16:creationId xmlns:a16="http://schemas.microsoft.com/office/drawing/2014/main" id="{8A22E667-AE8F-A65E-DA4D-4B1CA8B98277}"/>
              </a:ext>
            </a:extLst>
          </p:cNvPr>
          <p:cNvSpPr>
            <a:spLocks noGrp="1"/>
          </p:cNvSpPr>
          <p:nvPr>
            <p:ph type="body" idx="1"/>
          </p:nvPr>
        </p:nvSpPr>
        <p:spPr/>
        <p:txBody>
          <a:bodyPr>
            <a:normAutofit/>
          </a:bodyPr>
          <a:lstStyle/>
          <a:p>
            <a:pPr>
              <a:buFont typeface="Wingdings" panose="05000000000000000000" pitchFamily="2" charset="2"/>
              <a:buChar char="Ø"/>
            </a:pPr>
            <a:r>
              <a:rPr lang="en-US" dirty="0">
                <a:latin typeface="Cambria" panose="02040503050406030204" pitchFamily="18" charset="0"/>
                <a:ea typeface="Cambria" panose="02040503050406030204" pitchFamily="18" charset="0"/>
              </a:rPr>
              <a:t>Large enterprise organizations such as </a:t>
            </a:r>
            <a:r>
              <a:rPr lang="en-US" b="1" dirty="0">
                <a:latin typeface="Cambria" panose="02040503050406030204" pitchFamily="18" charset="0"/>
                <a:ea typeface="Cambria" panose="02040503050406030204" pitchFamily="18" charset="0"/>
              </a:rPr>
              <a:t>POWERGRID</a:t>
            </a:r>
            <a:r>
              <a:rPr lang="en-US" dirty="0">
                <a:latin typeface="Cambria" panose="02040503050406030204" pitchFamily="18" charset="0"/>
                <a:ea typeface="Cambria" panose="02040503050406030204" pitchFamily="18" charset="0"/>
              </a:rPr>
              <a:t> handle a high volume of IT service requests daily.</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IT tickets are currently raised using multiple platforms such as </a:t>
            </a:r>
            <a:r>
              <a:rPr lang="en-US" b="1" dirty="0">
                <a:latin typeface="Cambria" panose="02040503050406030204" pitchFamily="18" charset="0"/>
                <a:ea typeface="Cambria" panose="02040503050406030204" pitchFamily="18" charset="0"/>
              </a:rPr>
              <a:t>GLPI</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SAP Solution Manager (Solman), </a:t>
            </a:r>
            <a:r>
              <a:rPr lang="en-US" dirty="0">
                <a:latin typeface="Cambria" panose="02040503050406030204" pitchFamily="18" charset="0"/>
                <a:ea typeface="Cambria" panose="02040503050406030204" pitchFamily="18" charset="0"/>
              </a:rPr>
              <a:t>and </a:t>
            </a:r>
            <a:r>
              <a:rPr lang="en-US" b="1" dirty="0">
                <a:latin typeface="Cambria" panose="02040503050406030204" pitchFamily="18" charset="0"/>
                <a:ea typeface="Cambria" panose="02040503050406030204" pitchFamily="18" charset="0"/>
              </a:rPr>
              <a:t>email.</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Most traditional systems rely on </a:t>
            </a:r>
            <a:r>
              <a:rPr lang="en-US" b="1" dirty="0">
                <a:latin typeface="Cambria" panose="02040503050406030204" pitchFamily="18" charset="0"/>
                <a:ea typeface="Cambria" panose="02040503050406030204" pitchFamily="18" charset="0"/>
              </a:rPr>
              <a:t>manual ticket classification and predefined routing rules</a:t>
            </a:r>
            <a:r>
              <a:rPr lang="en-US"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Limited use of </a:t>
            </a:r>
            <a:r>
              <a:rPr lang="en-US" b="1" dirty="0">
                <a:latin typeface="Cambria" panose="02040503050406030204" pitchFamily="18" charset="0"/>
                <a:ea typeface="Cambria" panose="02040503050406030204" pitchFamily="18" charset="0"/>
              </a:rPr>
              <a:t>AI and Natural Language Processing (NLP)</a:t>
            </a:r>
            <a:r>
              <a:rPr lang="en-US" dirty="0">
                <a:latin typeface="Cambria" panose="02040503050406030204" pitchFamily="18" charset="0"/>
                <a:ea typeface="Cambria" panose="02040503050406030204" pitchFamily="18" charset="0"/>
              </a:rPr>
              <a:t> in existing solutions.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Lack of </a:t>
            </a:r>
            <a:r>
              <a:rPr lang="en-US" b="1" dirty="0">
                <a:latin typeface="Cambria" panose="02040503050406030204" pitchFamily="18" charset="0"/>
                <a:ea typeface="Cambria" panose="02040503050406030204" pitchFamily="18" charset="0"/>
              </a:rPr>
              <a:t>chatbot-based</a:t>
            </a:r>
            <a:r>
              <a:rPr lang="en-US" dirty="0">
                <a:latin typeface="Cambria" panose="02040503050406030204" pitchFamily="18" charset="0"/>
                <a:ea typeface="Cambria" panose="02040503050406030204" pitchFamily="18" charset="0"/>
              </a:rPr>
              <a:t> self-service mechanisms for resolving common IT issues.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These limitations create the need for a </a:t>
            </a:r>
            <a:r>
              <a:rPr lang="en-US" b="1" dirty="0">
                <a:latin typeface="Cambria" panose="02040503050406030204" pitchFamily="18" charset="0"/>
                <a:ea typeface="Cambria" panose="02040503050406030204" pitchFamily="18" charset="0"/>
              </a:rPr>
              <a:t>centralized, intelligent helpdesk solution</a:t>
            </a:r>
            <a:r>
              <a:rPr lang="en-US" dirty="0">
                <a:latin typeface="Cambria" panose="02040503050406030204" pitchFamily="18" charset="0"/>
                <a:ea typeface="Cambria" panose="02040503050406030204" pitchFamily="18" charset="0"/>
              </a:rPr>
              <a:t> with automated classification, routing, and self-service support.</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26243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938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76200" indent="0">
              <a:buNone/>
            </a:pPr>
            <a:r>
              <a:rPr lang="en-IN" b="1" dirty="0">
                <a:latin typeface="Cambria" panose="02040503050406030204" pitchFamily="18" charset="0"/>
                <a:ea typeface="Cambria" panose="02040503050406030204" pitchFamily="18" charset="0"/>
              </a:rPr>
              <a:t>1. Frontend:</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HTML, CSS, JavaScript</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Used for building user interfaces such as login, ticket creation, chatbot, and dashboards</a:t>
            </a:r>
          </a:p>
          <a:p>
            <a:pPr marL="76200" indent="0">
              <a:buNone/>
            </a:pPr>
            <a:r>
              <a:rPr lang="en-IN" b="1" dirty="0">
                <a:latin typeface="Cambria" panose="02040503050406030204" pitchFamily="18" charset="0"/>
                <a:ea typeface="Cambria" panose="02040503050406030204" pitchFamily="18" charset="0"/>
              </a:rPr>
              <a:t>2. Backend:</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t>Python (Flask Framework)</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Handles business logic, ticket processing, AI integration, and API management</a:t>
            </a:r>
          </a:p>
          <a:p>
            <a:pPr marL="76200" indent="0">
              <a:buNone/>
            </a:pPr>
            <a:r>
              <a:rPr lang="en-US" sz="2000" b="1" dirty="0"/>
              <a:t>3. </a:t>
            </a:r>
            <a:r>
              <a:rPr lang="en-US" sz="2000" b="1" dirty="0">
                <a:latin typeface="Cambria" panose="02040503050406030204" pitchFamily="18" charset="0"/>
                <a:ea typeface="Cambria" panose="02040503050406030204" pitchFamily="18" charset="0"/>
              </a:rPr>
              <a:t>Database</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SQLite / MySQL</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S</a:t>
            </a:r>
            <a:r>
              <a:rPr lang="en-US" sz="2000" dirty="0"/>
              <a:t>tores user details, tickets, categories, status, and routing information</a:t>
            </a:r>
            <a:endParaRPr lang="en-IN" sz="20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IN" b="1" dirty="0">
                <a:latin typeface="Cambria" panose="02040503050406030204" pitchFamily="18" charset="0"/>
                <a:ea typeface="Cambria" panose="02040503050406030204" pitchFamily="18" charset="0"/>
              </a:rPr>
              <a:t>4. Artificial Intelligence &amp; NLP</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Python-based NLP techniques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Used for automated ticket classification and priority detection</a:t>
            </a:r>
            <a:r>
              <a:rPr lang="en-IN" sz="2000" dirty="0">
                <a:latin typeface="Cambria" panose="02040503050406030204" pitchFamily="18" charset="0"/>
                <a:ea typeface="Cambria" panose="02040503050406030204" pitchFamily="18" charset="0"/>
              </a:rPr>
              <a:t>.</a:t>
            </a:r>
          </a:p>
          <a:p>
            <a:pPr marL="76200" indent="0">
              <a:buNone/>
            </a:pPr>
            <a:r>
              <a:rPr lang="en-IN" b="1" dirty="0">
                <a:latin typeface="Cambria" panose="02040503050406030204" pitchFamily="18" charset="0"/>
                <a:ea typeface="Cambria" panose="02040503050406030204" pitchFamily="18" charset="0"/>
              </a:rPr>
              <a:t>5. Chatbot Module</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Rule-based AI chatbot</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Provides instant self-service support for common IT issues</a:t>
            </a:r>
          </a:p>
          <a:p>
            <a:pPr marL="76200" indent="0">
              <a:buNone/>
            </a:pPr>
            <a:r>
              <a:rPr lang="en-IN" b="1" dirty="0">
                <a:latin typeface="Cambria" panose="02040503050406030204" pitchFamily="18" charset="0"/>
                <a:ea typeface="Cambria" panose="02040503050406030204" pitchFamily="18" charset="0"/>
              </a:rPr>
              <a:t>6. Payment Integration</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Email and SMS (simulated)</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Used for ticket updates, alerts, and escalations</a:t>
            </a:r>
          </a:p>
          <a:p>
            <a:pPr marL="76200" indent="0">
              <a:buNone/>
            </a:pPr>
            <a:r>
              <a:rPr lang="en-IN" b="1" dirty="0">
                <a:latin typeface="Cambria" panose="02040503050406030204" pitchFamily="18" charset="0"/>
                <a:ea typeface="Cambria" panose="02040503050406030204" pitchFamily="18" charset="0"/>
              </a:rPr>
              <a:t>6. Development Tools</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VS Code</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Git for version control</a:t>
            </a:r>
            <a:endParaRPr lang="en-US" sz="2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b="1" dirty="0">
                <a:latin typeface="Cambria" panose="02040503050406030204" pitchFamily="18" charset="0"/>
                <a:ea typeface="Cambria" panose="02040503050406030204" pitchFamily="18" charset="0"/>
              </a:rPr>
              <a:t>Current Challenges: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IT service requests are handled through </a:t>
            </a:r>
            <a:r>
              <a:rPr lang="en-US" sz="2000" b="1" dirty="0">
                <a:latin typeface="Cambria" panose="02040503050406030204" pitchFamily="18" charset="0"/>
                <a:ea typeface="Cambria" panose="02040503050406030204" pitchFamily="18" charset="0"/>
              </a:rPr>
              <a:t>multiple independent platforms</a:t>
            </a:r>
            <a:r>
              <a:rPr lang="en-US" sz="2000" dirty="0">
                <a:latin typeface="Cambria" panose="02040503050406030204" pitchFamily="18" charset="0"/>
                <a:ea typeface="Cambria" panose="02040503050406030204" pitchFamily="18" charset="0"/>
              </a:rPr>
              <a:t> such as GLPI, Solman, and email.</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Employees face difficulty in deciding </a:t>
            </a:r>
            <a:r>
              <a:rPr lang="en-US" sz="2000" b="1" dirty="0">
                <a:latin typeface="Cambria" panose="02040503050406030204" pitchFamily="18" charset="0"/>
                <a:ea typeface="Cambria" panose="02040503050406030204" pitchFamily="18" charset="0"/>
              </a:rPr>
              <a:t>which platform to use</a:t>
            </a:r>
            <a:r>
              <a:rPr lang="en-US" sz="2000" dirty="0">
                <a:latin typeface="Cambria" panose="02040503050406030204" pitchFamily="18" charset="0"/>
                <a:ea typeface="Cambria" panose="02040503050406030204" pitchFamily="18" charset="0"/>
              </a:rPr>
              <a:t> for raising a particular issue.</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Lack of a </a:t>
            </a:r>
            <a:r>
              <a:rPr lang="en-US" sz="2000" b="1" dirty="0">
                <a:latin typeface="Cambria" panose="02040503050406030204" pitchFamily="18" charset="0"/>
                <a:ea typeface="Cambria" panose="02040503050406030204" pitchFamily="18" charset="0"/>
              </a:rPr>
              <a:t>centralized view</a:t>
            </a:r>
            <a:r>
              <a:rPr lang="en-US" sz="2000" dirty="0">
                <a:latin typeface="Cambria" panose="02040503050406030204" pitchFamily="18" charset="0"/>
                <a:ea typeface="Cambria" panose="02040503050406030204" pitchFamily="18" charset="0"/>
              </a:rPr>
              <a:t> of all IT tickets across the organization.</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Manual ticket classification and routing</a:t>
            </a:r>
            <a:r>
              <a:rPr lang="en-US" sz="2000" dirty="0">
                <a:latin typeface="Cambria" panose="02040503050406030204" pitchFamily="18" charset="0"/>
                <a:ea typeface="Cambria" panose="02040503050406030204" pitchFamily="18" charset="0"/>
              </a:rPr>
              <a:t> lead to delays and errors.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Repetitive IT issues require </a:t>
            </a:r>
            <a:r>
              <a:rPr lang="en-US" sz="2000" b="1" dirty="0">
                <a:latin typeface="Cambria" panose="02040503050406030204" pitchFamily="18" charset="0"/>
                <a:ea typeface="Cambria" panose="02040503050406030204" pitchFamily="18" charset="0"/>
              </a:rPr>
              <a:t>human intervention</a:t>
            </a:r>
            <a:r>
              <a:rPr lang="en-US" sz="2000" dirty="0">
                <a:latin typeface="Cambria" panose="02040503050406030204" pitchFamily="18" charset="0"/>
                <a:ea typeface="Cambria" panose="02040503050406030204" pitchFamily="18" charset="0"/>
              </a:rPr>
              <a:t>, increasing workload</a:t>
            </a:r>
          </a:p>
          <a:p>
            <a:pPr marL="76200" indent="0">
              <a:buNone/>
            </a:pPr>
            <a:r>
              <a:rPr lang="en-US" b="1" dirty="0">
                <a:latin typeface="Cambria" panose="02040503050406030204" pitchFamily="18" charset="0"/>
                <a:ea typeface="Cambria" panose="02040503050406030204" pitchFamily="18" charset="0"/>
              </a:rPr>
              <a:t>Needs &amp; Expectations</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A </a:t>
            </a:r>
            <a:r>
              <a:rPr lang="en-US" sz="2000" b="1" dirty="0">
                <a:latin typeface="Cambria" panose="02040503050406030204" pitchFamily="18" charset="0"/>
                <a:ea typeface="Cambria" panose="02040503050406030204" pitchFamily="18" charset="0"/>
              </a:rPr>
              <a:t>centralized platform</a:t>
            </a:r>
            <a:r>
              <a:rPr lang="en-US" sz="2000" dirty="0">
                <a:latin typeface="Cambria" panose="02040503050406030204" pitchFamily="18" charset="0"/>
                <a:ea typeface="Cambria" panose="02040503050406030204" pitchFamily="18" charset="0"/>
              </a:rPr>
              <a:t> to manage all IT service requests.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Ability to </a:t>
            </a:r>
            <a:r>
              <a:rPr lang="en-US" sz="2000" b="1" dirty="0">
                <a:latin typeface="Cambria" panose="02040503050406030204" pitchFamily="18" charset="0"/>
                <a:ea typeface="Cambria" panose="02040503050406030204" pitchFamily="18" charset="0"/>
              </a:rPr>
              <a:t>ingest tickets from multiple sources</a:t>
            </a:r>
            <a:r>
              <a:rPr lang="en-US" sz="2000" dirty="0">
                <a:latin typeface="Cambria" panose="02040503050406030204" pitchFamily="18" charset="0"/>
                <a:ea typeface="Cambria" panose="02040503050406030204" pitchFamily="18" charset="0"/>
              </a:rPr>
              <a:t> into one system.</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AI/NLP-based automatic classification</a:t>
            </a:r>
            <a:r>
              <a:rPr lang="en-US" sz="2000" dirty="0">
                <a:latin typeface="Cambria" panose="02040503050406030204" pitchFamily="18" charset="0"/>
                <a:ea typeface="Cambria" panose="02040503050406030204" pitchFamily="18" charset="0"/>
              </a:rPr>
              <a:t> of tickets.</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Intelligent routing</a:t>
            </a:r>
            <a:r>
              <a:rPr lang="en-US" sz="2000" dirty="0">
                <a:latin typeface="Cambria" panose="02040503050406030204" pitchFamily="18" charset="0"/>
                <a:ea typeface="Cambria" panose="02040503050406030204" pitchFamily="18" charset="0"/>
              </a:rPr>
              <a:t> of tickets to the appropriate IT teams.</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Chatbot-based self-service</a:t>
            </a:r>
            <a:r>
              <a:rPr lang="en-US" sz="2000" dirty="0">
                <a:latin typeface="Cambria" panose="02040503050406030204" pitchFamily="18" charset="0"/>
                <a:ea typeface="Cambria" panose="02040503050406030204" pitchFamily="18" charset="0"/>
              </a:rPr>
              <a:t> for resolving common IT issues.</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558800" y="133985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hlinkClick r:id="rId3"/>
              </a:rPr>
              <a:t>GitHub Link</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9" name="AutoShape 14" descr="Output image">
            <a:extLst>
              <a:ext uri="{FF2B5EF4-FFF2-40B4-BE49-F238E27FC236}">
                <a16:creationId xmlns:a16="http://schemas.microsoft.com/office/drawing/2014/main" id="{8862907A-4622-5872-8E38-E5711ABCA30A}"/>
              </a:ext>
            </a:extLst>
          </p:cNvPr>
          <p:cNvSpPr>
            <a:spLocks noGrp="1" noChangeAspect="1" noChangeArrowheads="1"/>
          </p:cNvSpPr>
          <p:nvPr>
            <p:ph type="body" idx="1"/>
          </p:nvPr>
        </p:nvSpPr>
        <p:spPr bwMode="auto">
          <a:xfrm>
            <a:off x="615388" y="1302191"/>
            <a:ext cx="9443012" cy="47402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16" descr="Output image">
            <a:extLst>
              <a:ext uri="{FF2B5EF4-FFF2-40B4-BE49-F238E27FC236}">
                <a16:creationId xmlns:a16="http://schemas.microsoft.com/office/drawing/2014/main" id="{F9FFAD3D-3879-80CD-E06C-C73F64433EB1}"/>
              </a:ext>
            </a:extLst>
          </p:cNvPr>
          <p:cNvSpPr>
            <a:spLocks noChangeAspect="1" noChangeArrowheads="1"/>
          </p:cNvSpPr>
          <p:nvPr/>
        </p:nvSpPr>
        <p:spPr bwMode="auto">
          <a:xfrm>
            <a:off x="3032567" y="365567"/>
            <a:ext cx="3215833" cy="32158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EEE1F373-B930-EA05-D3E9-CBA8DD0B07DF}"/>
              </a:ext>
            </a:extLst>
          </p:cNvPr>
          <p:cNvPicPr>
            <a:picLocks noChangeAspect="1"/>
          </p:cNvPicPr>
          <p:nvPr/>
        </p:nvPicPr>
        <p:blipFill>
          <a:blip r:embed="rId3"/>
          <a:stretch>
            <a:fillRect/>
          </a:stretch>
        </p:blipFill>
        <p:spPr>
          <a:xfrm>
            <a:off x="532435" y="1096891"/>
            <a:ext cx="10120006" cy="496901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a:bodyPr>
          <a:lstStyle/>
          <a:p>
            <a:pPr marL="152400" indent="0">
              <a:spcBef>
                <a:spcPts val="0"/>
              </a:spcBef>
              <a:buNone/>
            </a:pPr>
            <a:endParaRPr lang="en-US" dirty="0">
              <a:latin typeface="Cambria" panose="02040503050406030204" pitchFamily="18" charset="0"/>
              <a:ea typeface="Cambria" panose="02040503050406030204" pitchFamily="18" charset="0"/>
            </a:endParaRPr>
          </a:p>
          <a:p>
            <a:r>
              <a:rPr lang="en-IN" dirty="0"/>
              <a:t>[1] A. Kumari, R. Verma, and S. Patel, “An intelligent IT service management system using artificial intelligence,” </a:t>
            </a:r>
            <a:r>
              <a:rPr lang="en-IN" i="1" dirty="0"/>
              <a:t>IEEE Access</a:t>
            </a:r>
            <a:r>
              <a:rPr lang="en-IN" dirty="0"/>
              <a:t>, vol. 9, pp. 112345–112356, May 2021.</a:t>
            </a:r>
          </a:p>
          <a:p>
            <a:r>
              <a:rPr lang="en-IN" dirty="0"/>
              <a:t>[2] M. Gupta and P. K. Singh, “Automated ticket classification and routing using natural language processing,” </a:t>
            </a:r>
            <a:r>
              <a:rPr lang="en-IN" i="1" dirty="0"/>
              <a:t>IEEE Transactions on Services Computing</a:t>
            </a:r>
            <a:r>
              <a:rPr lang="en-IN" dirty="0"/>
              <a:t>, vol. 14, no. 3, pp. 890–901, Jun. 2021.</a:t>
            </a:r>
          </a:p>
          <a:p>
            <a:r>
              <a:rPr lang="en-IN" dirty="0"/>
              <a:t>[3] R. Zhang, Y. Liu, and H. Chen, “Chatbot-based customer support system using NLP and machine learning,” </a:t>
            </a:r>
            <a:r>
              <a:rPr lang="en-IN" i="1" dirty="0"/>
              <a:t>International Journal of Computer Applications</a:t>
            </a:r>
            <a:r>
              <a:rPr lang="en-IN" dirty="0"/>
              <a:t>, vol. 176, no. 25, pp. 15–20, Oct. 2020.</a:t>
            </a:r>
          </a:p>
          <a:p>
            <a:r>
              <a:rPr lang="en-IN" dirty="0"/>
              <a:t>[4] SAP SE, “SAP Solution Manager – IT Service Management,” [Online]. Available: https://www.sap.com/products/solution-manager.html. [Accessed: Jan. 10, 2026].</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1530</TotalTime>
  <Words>964</Words>
  <Application>Microsoft Office PowerPoint</Application>
  <PresentationFormat>Widescreen</PresentationFormat>
  <Paragraphs>115</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Cambria</vt:lpstr>
      <vt:lpstr>Verdana</vt:lpstr>
      <vt:lpstr>Wingdings</vt:lpstr>
      <vt:lpstr>Bioinformatics</vt:lpstr>
      <vt:lpstr>Smart Helpdesk Ticketing Solution for IT Services </vt:lpstr>
      <vt:lpstr>Problem Statement Number: 190</vt:lpstr>
      <vt:lpstr>Content</vt:lpstr>
      <vt:lpstr>Objectives</vt:lpstr>
      <vt:lpstr>Background and Related work</vt:lpstr>
      <vt:lpstr>Analysis of Problem Statement</vt:lpstr>
      <vt:lpstr>Analysis of Problem Statement (contd...)</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Vijay Talari</cp:lastModifiedBy>
  <cp:revision>48</cp:revision>
  <dcterms:modified xsi:type="dcterms:W3CDTF">2026-04-20T10:26:30Z</dcterms:modified>
</cp:coreProperties>
</file>